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15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6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88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14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32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82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37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40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21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85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72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1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752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0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03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39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21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656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IGVC 2026 – COMBINED FULL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AutoNav • Self Drive • Design Challenge • Awards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6932"/>
            <a:ext cx="8345424" cy="4490380"/>
          </a:xfrm>
        </p:spPr>
        <p:txBody>
          <a:bodyPr>
            <a:normAutofit/>
          </a:bodyPr>
          <a:lstStyle/>
          <a:p>
            <a:r>
              <a:rPr lang="en-US" dirty="0"/>
              <a:t>The 33rd </a:t>
            </a:r>
            <a:r>
              <a:rPr lang="en-US" b="1" dirty="0"/>
              <a:t>Annual Intelligent Ground Vehicle Competition (IGVC) </a:t>
            </a:r>
            <a:r>
              <a:rPr lang="en-US" dirty="0"/>
              <a:t>will take place from May 29 – June 1, 2026</a:t>
            </a:r>
          </a:p>
          <a:p>
            <a:r>
              <a:rPr lang="en-US" dirty="0"/>
              <a:t>Hosted at </a:t>
            </a:r>
            <a:r>
              <a:rPr lang="en-US" b="1" dirty="0"/>
              <a:t>Oakland University, Rochester, Michigan</a:t>
            </a:r>
          </a:p>
          <a:p>
            <a:r>
              <a:rPr lang="en-US" dirty="0"/>
              <a:t>IGVC is an international robotics competition focused on autonomous ground vehicles</a:t>
            </a:r>
          </a:p>
          <a:p>
            <a:r>
              <a:rPr lang="en-US" dirty="0"/>
              <a:t>Main competition events: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AutoNav</a:t>
            </a:r>
            <a:r>
              <a:rPr lang="en-US" dirty="0"/>
              <a:t> Challenge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Self Drive Challenge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Design Challenge</a:t>
            </a:r>
          </a:p>
          <a:p>
            <a:r>
              <a:rPr lang="en-US" dirty="0"/>
              <a:t>Participants include universities from around the world, competing in engineering, autonomy, safety, and real-world robotic navigation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Updates for</a:t>
            </a:r>
            <a:r>
              <a:rPr lang="en-GB" dirty="0"/>
              <a:t> IGVC</a:t>
            </a:r>
            <a:r>
              <a:rPr dirty="0"/>
              <a:t>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66764"/>
            <a:ext cx="8223504" cy="4258732"/>
          </a:xfrm>
        </p:spPr>
        <p:txBody>
          <a:bodyPr>
            <a:normAutofit/>
          </a:bodyPr>
          <a:lstStyle/>
          <a:p>
            <a:r>
              <a:rPr lang="en-US" dirty="0"/>
              <a:t>Introduction of the </a:t>
            </a:r>
            <a:r>
              <a:rPr lang="en-US" b="1" dirty="0"/>
              <a:t>Top Performer Award </a:t>
            </a:r>
            <a:r>
              <a:rPr lang="en-US" dirty="0"/>
              <a:t>for teams achieving exceptional combined performance in both </a:t>
            </a:r>
            <a:r>
              <a:rPr lang="en-US" dirty="0" err="1"/>
              <a:t>AutoNav</a:t>
            </a:r>
            <a:r>
              <a:rPr lang="en-US" dirty="0"/>
              <a:t> and Self Drive</a:t>
            </a:r>
          </a:p>
          <a:p>
            <a:r>
              <a:rPr lang="en-US" dirty="0"/>
              <a:t>Design Reports now require expanded coverage of: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Autonomous subsystems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System architecture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AI, ML/DL components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Sensor fusion &amp; perception pipelines</a:t>
            </a:r>
          </a:p>
          <a:p>
            <a:r>
              <a:rPr lang="en-US" dirty="0"/>
              <a:t>Self Drive testing windows extended to support teams participating in both </a:t>
            </a:r>
            <a:r>
              <a:rPr lang="en-US" dirty="0" err="1"/>
              <a:t>AutoNav</a:t>
            </a:r>
            <a:r>
              <a:rPr lang="en-US" dirty="0"/>
              <a:t> + Self Drive simultaneously.</a:t>
            </a:r>
          </a:p>
          <a:p>
            <a:r>
              <a:rPr lang="en-US" dirty="0"/>
              <a:t>Continued recognition through the HBCU Flight Award to support diversity and involvement of Historically Black Colleges and Universities.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3363"/>
            <a:ext cx="8235696" cy="4405036"/>
          </a:xfrm>
        </p:spPr>
        <p:txBody>
          <a:bodyPr>
            <a:normAutofit/>
          </a:bodyPr>
          <a:lstStyle/>
          <a:p>
            <a:r>
              <a:rPr lang="en-US" dirty="0"/>
              <a:t>All teams must be student-led, with required supervision by one or more faculty advisors</a:t>
            </a:r>
          </a:p>
          <a:p>
            <a:r>
              <a:rPr lang="en-US" dirty="0"/>
              <a:t>Universities may enter up to three (3) vehicles</a:t>
            </a:r>
          </a:p>
          <a:p>
            <a:r>
              <a:rPr lang="en-US" dirty="0"/>
              <a:t>Registration cost: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$500 per vehicle entry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Teams entering both </a:t>
            </a:r>
            <a:r>
              <a:rPr lang="en-US" dirty="0" err="1"/>
              <a:t>AutoNav</a:t>
            </a:r>
            <a:r>
              <a:rPr lang="en-US" dirty="0"/>
              <a:t> + Self Drive with the same vehicle get a 50% discount</a:t>
            </a:r>
          </a:p>
          <a:p>
            <a:r>
              <a:rPr lang="en-US" dirty="0"/>
              <a:t>International teams must follow travel roster limits: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Maximum 6 student competitors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Maximum 2 faculty advisors</a:t>
            </a:r>
          </a:p>
          <a:p>
            <a:r>
              <a:rPr lang="en-US" dirty="0"/>
              <a:t>Sponsors are allowed but may not operate or directly control the vehicle</a:t>
            </a:r>
          </a:p>
          <a:p>
            <a:r>
              <a:rPr lang="en-US" dirty="0"/>
              <a:t>All team members must follow IGVC safety and operational rules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8560"/>
            <a:ext cx="7772400" cy="1456267"/>
          </a:xfrm>
        </p:spPr>
        <p:txBody>
          <a:bodyPr/>
          <a:lstStyle/>
          <a:p>
            <a:r>
              <a:rPr dirty="0"/>
              <a:t>Vehicle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1062"/>
            <a:ext cx="8101584" cy="5218176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dirty="0"/>
              <a:t>A competing IGVC vehicle must meet the following: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b="1" dirty="0"/>
              <a:t>Physical Dimensions</a:t>
            </a:r>
          </a:p>
          <a:p>
            <a:pPr lvl="1">
              <a:spcAft>
                <a:spcPts val="0"/>
              </a:spcAft>
            </a:pPr>
            <a:r>
              <a:rPr lang="en-US" dirty="0"/>
              <a:t>Length: 3 ft to 7 ft</a:t>
            </a:r>
          </a:p>
          <a:p>
            <a:pPr lvl="1">
              <a:spcAft>
                <a:spcPts val="0"/>
              </a:spcAft>
            </a:pPr>
            <a:r>
              <a:rPr lang="en-US" dirty="0"/>
              <a:t>Width: 2 ft to 4 ft</a:t>
            </a:r>
          </a:p>
          <a:p>
            <a:pPr lvl="1">
              <a:spcAft>
                <a:spcPts val="0"/>
              </a:spcAft>
            </a:pPr>
            <a:r>
              <a:rPr lang="en-US" dirty="0"/>
              <a:t>Height: not exceeding 6 ft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b="1" dirty="0"/>
              <a:t>Performance Requirements</a:t>
            </a:r>
          </a:p>
          <a:p>
            <a:pPr lvl="1">
              <a:spcAft>
                <a:spcPts val="0"/>
              </a:spcAft>
            </a:pPr>
            <a:r>
              <a:rPr lang="en-US" dirty="0"/>
              <a:t>Speed must be strictly limited to:</a:t>
            </a:r>
          </a:p>
          <a:p>
            <a:pPr lvl="2">
              <a:spcAft>
                <a:spcPts val="0"/>
              </a:spcAft>
            </a:pPr>
            <a:r>
              <a:rPr lang="en-US" dirty="0"/>
              <a:t>Minimum: 1 mph</a:t>
            </a:r>
          </a:p>
          <a:p>
            <a:pPr lvl="2">
              <a:spcAft>
                <a:spcPts val="0"/>
              </a:spcAft>
            </a:pPr>
            <a:r>
              <a:rPr lang="en-US" dirty="0"/>
              <a:t>Maximum: 5 mph</a:t>
            </a:r>
          </a:p>
          <a:p>
            <a:pPr lvl="2">
              <a:spcAft>
                <a:spcPts val="0"/>
              </a:spcAft>
            </a:pPr>
            <a:r>
              <a:rPr lang="en-US" dirty="0"/>
              <a:t>Speed must be hardware-governed, not software-only.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b="1" dirty="0"/>
              <a:t>Mandatory Components</a:t>
            </a:r>
          </a:p>
          <a:p>
            <a:pPr lvl="1">
              <a:spcAft>
                <a:spcPts val="0"/>
              </a:spcAft>
            </a:pPr>
            <a:r>
              <a:rPr lang="en-US" dirty="0"/>
              <a:t>20 </a:t>
            </a:r>
            <a:r>
              <a:rPr lang="en-US" dirty="0" err="1"/>
              <a:t>lb</a:t>
            </a:r>
            <a:r>
              <a:rPr lang="en-US" dirty="0"/>
              <a:t> payload (size: 16 × 8 × 8 inches)</a:t>
            </a:r>
          </a:p>
          <a:p>
            <a:pPr lvl="1">
              <a:spcAft>
                <a:spcPts val="0"/>
              </a:spcAft>
            </a:pPr>
            <a:r>
              <a:rPr lang="en-US" dirty="0"/>
              <a:t>Mechanical Emergency Stop (E-Stop):</a:t>
            </a:r>
          </a:p>
          <a:p>
            <a:pPr lvl="2">
              <a:spcAft>
                <a:spcPts val="0"/>
              </a:spcAft>
            </a:pPr>
            <a:r>
              <a:rPr lang="en-US" dirty="0"/>
              <a:t>Located at the rear</a:t>
            </a:r>
          </a:p>
          <a:p>
            <a:pPr lvl="2">
              <a:spcAft>
                <a:spcPts val="0"/>
              </a:spcAft>
            </a:pPr>
            <a:r>
              <a:rPr lang="en-US" dirty="0"/>
              <a:t>Must fully disable vehicle motion</a:t>
            </a:r>
          </a:p>
          <a:p>
            <a:pPr lvl="1">
              <a:spcAft>
                <a:spcPts val="0"/>
              </a:spcAft>
            </a:pPr>
            <a:r>
              <a:rPr lang="en-US" dirty="0"/>
              <a:t>Wireless E-Stop:</a:t>
            </a:r>
          </a:p>
          <a:p>
            <a:pPr lvl="2">
              <a:spcAft>
                <a:spcPts val="0"/>
              </a:spcAft>
            </a:pPr>
            <a:r>
              <a:rPr lang="en-US" dirty="0"/>
              <a:t>Operational range: minimum 100 ft</a:t>
            </a:r>
          </a:p>
          <a:p>
            <a:pPr lvl="1">
              <a:spcAft>
                <a:spcPts val="0"/>
              </a:spcAft>
            </a:pPr>
            <a:r>
              <a:rPr lang="en-US" dirty="0"/>
              <a:t>Safety Light:</a:t>
            </a:r>
          </a:p>
          <a:p>
            <a:pPr lvl="2">
              <a:spcAft>
                <a:spcPts val="0"/>
              </a:spcAft>
            </a:pPr>
            <a:r>
              <a:rPr lang="en-US" dirty="0"/>
              <a:t>Solid when autonomous</a:t>
            </a:r>
          </a:p>
          <a:p>
            <a:pPr lvl="2">
              <a:spcAft>
                <a:spcPts val="0"/>
              </a:spcAft>
            </a:pPr>
            <a:r>
              <a:rPr lang="en-US" dirty="0"/>
              <a:t>Flashing during remote operation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b="1" dirty="0"/>
              <a:t>Autonomy Requirements</a:t>
            </a:r>
          </a:p>
          <a:p>
            <a:pPr lvl="1">
              <a:spcAft>
                <a:spcPts val="0"/>
              </a:spcAft>
            </a:pPr>
            <a:r>
              <a:rPr lang="en-US" dirty="0"/>
              <a:t>No remote control or external computation during runs.</a:t>
            </a:r>
          </a:p>
          <a:p>
            <a:pPr lvl="1">
              <a:spcAft>
                <a:spcPts val="0"/>
              </a:spcAft>
            </a:pPr>
            <a:r>
              <a:rPr lang="en-US" dirty="0"/>
              <a:t>All decisions must occur onboard the robot.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621"/>
            <a:ext cx="7772400" cy="1456267"/>
          </a:xfrm>
        </p:spPr>
        <p:txBody>
          <a:bodyPr/>
          <a:lstStyle/>
          <a:p>
            <a:r>
              <a:rPr dirty="0"/>
              <a:t>Qualification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5926"/>
            <a:ext cx="8394192" cy="4864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Before competing, all vehicles must pass </a:t>
            </a:r>
            <a:r>
              <a:rPr lang="en-US" sz="2000" b="1" dirty="0"/>
              <a:t>Qualification</a:t>
            </a:r>
            <a:r>
              <a:rPr lang="en-US" sz="2000" dirty="0"/>
              <a:t>, which includes:</a:t>
            </a:r>
          </a:p>
          <a:p>
            <a:pPr lvl="1"/>
            <a:r>
              <a:rPr lang="en-US" sz="1800" b="1" dirty="0"/>
              <a:t>Safety Light Test</a:t>
            </a:r>
            <a:endParaRPr lang="en-US" sz="1800" dirty="0"/>
          </a:p>
          <a:p>
            <a:pPr lvl="1"/>
            <a:r>
              <a:rPr lang="en-US" sz="1800" b="1" dirty="0"/>
              <a:t>Mechanical &amp; Wireless E-Stop Test</a:t>
            </a:r>
            <a:endParaRPr lang="en-US" sz="1800" dirty="0"/>
          </a:p>
          <a:p>
            <a:pPr lvl="1"/>
            <a:r>
              <a:rPr lang="en-US" sz="1800" b="1" dirty="0"/>
              <a:t>Speed Test</a:t>
            </a:r>
            <a:endParaRPr lang="en-US" sz="1800" dirty="0"/>
          </a:p>
          <a:p>
            <a:pPr lvl="2"/>
            <a:r>
              <a:rPr lang="en-US" sz="1600" dirty="0"/>
              <a:t>Must maintain 1–5 mph through a 44-ft section.</a:t>
            </a:r>
          </a:p>
          <a:p>
            <a:pPr lvl="1"/>
            <a:r>
              <a:rPr lang="en-US" sz="1800" b="1" dirty="0"/>
              <a:t>Lane Following Demonstration</a:t>
            </a:r>
            <a:endParaRPr lang="en-US" sz="1800" dirty="0"/>
          </a:p>
          <a:p>
            <a:pPr lvl="1"/>
            <a:r>
              <a:rPr lang="en-US" sz="1800" b="1" dirty="0"/>
              <a:t>Basic Obstacle Avoidance</a:t>
            </a:r>
            <a:endParaRPr lang="en-US" sz="1800" dirty="0"/>
          </a:p>
          <a:p>
            <a:pPr lvl="1"/>
            <a:r>
              <a:rPr lang="en-US" sz="1800" b="1" dirty="0"/>
              <a:t>Vehicle Dimensions Check</a:t>
            </a:r>
            <a:endParaRPr lang="en-US" sz="1800" dirty="0"/>
          </a:p>
          <a:p>
            <a:pPr lvl="1"/>
            <a:r>
              <a:rPr lang="en-US" sz="1800" b="1" dirty="0"/>
              <a:t>Payload Check</a:t>
            </a:r>
            <a:endParaRPr lang="en-US" sz="1800" dirty="0"/>
          </a:p>
          <a:p>
            <a:pPr marL="0" indent="0">
              <a:buNone/>
            </a:pPr>
            <a:r>
              <a:rPr lang="en-US" sz="2000" dirty="0"/>
              <a:t>If a vehicle fails any critical safety component, it </a:t>
            </a:r>
            <a:r>
              <a:rPr lang="en-US" sz="2000" b="1" dirty="0"/>
              <a:t>cannot participate</a:t>
            </a:r>
            <a:r>
              <a:rPr lang="en-US" sz="2000" dirty="0"/>
              <a:t> in </a:t>
            </a:r>
            <a:r>
              <a:rPr lang="en-US" sz="2000" dirty="0" err="1"/>
              <a:t>AutoNav</a:t>
            </a:r>
            <a:r>
              <a:rPr lang="en-US" sz="2000" dirty="0"/>
              <a:t> or Self Drive.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AutoNav Challenge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96261"/>
            <a:ext cx="8040624" cy="4465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Objective</a:t>
            </a:r>
          </a:p>
          <a:p>
            <a:pPr marL="0" indent="0">
              <a:buNone/>
            </a:pPr>
            <a:r>
              <a:rPr lang="en-US" dirty="0"/>
              <a:t>To autonomously navigate an outdoor course while:</a:t>
            </a:r>
          </a:p>
          <a:p>
            <a:pPr lvl="1"/>
            <a:r>
              <a:rPr lang="en-US" dirty="0"/>
              <a:t>Staying within lanes</a:t>
            </a:r>
          </a:p>
          <a:p>
            <a:pPr lvl="1"/>
            <a:r>
              <a:rPr lang="en-US" dirty="0"/>
              <a:t>Maintaining speed between 1–5 mph</a:t>
            </a:r>
          </a:p>
          <a:p>
            <a:pPr lvl="1"/>
            <a:r>
              <a:rPr lang="en-US" dirty="0"/>
              <a:t>Avoiding obstacles (static &amp; dynamic)</a:t>
            </a:r>
          </a:p>
          <a:p>
            <a:pPr lvl="1"/>
            <a:r>
              <a:rPr lang="en-US" dirty="0"/>
              <a:t>Completing as much of the course as possible</a:t>
            </a:r>
          </a:p>
          <a:p>
            <a:pPr marL="0" indent="0">
              <a:buNone/>
            </a:pPr>
            <a:r>
              <a:rPr lang="en-US" b="1" dirty="0"/>
              <a:t>Scoring</a:t>
            </a:r>
          </a:p>
          <a:p>
            <a:pPr lvl="1"/>
            <a:r>
              <a:rPr lang="en-US" dirty="0"/>
              <a:t>If the vehicle completes the course:</a:t>
            </a:r>
            <a:br>
              <a:rPr lang="en-US" dirty="0"/>
            </a:br>
            <a:r>
              <a:rPr lang="en-US" b="1" dirty="0"/>
              <a:t>Adjusted Time Score</a:t>
            </a:r>
            <a:endParaRPr lang="en-US" dirty="0"/>
          </a:p>
          <a:p>
            <a:pPr lvl="1"/>
            <a:r>
              <a:rPr lang="en-US" dirty="0"/>
              <a:t>If not completed:</a:t>
            </a:r>
            <a:br>
              <a:rPr lang="en-US" dirty="0"/>
            </a:br>
            <a:r>
              <a:rPr lang="en-US" b="1" dirty="0"/>
              <a:t>Adjusted Distance Score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455"/>
            <a:ext cx="7772400" cy="1456267"/>
          </a:xfrm>
        </p:spPr>
        <p:txBody>
          <a:bodyPr/>
          <a:lstStyle/>
          <a:p>
            <a:r>
              <a:rPr dirty="0" err="1"/>
              <a:t>AutoNav</a:t>
            </a:r>
            <a:r>
              <a:rPr dirty="0"/>
              <a:t> Course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3948"/>
            <a:ext cx="8272272" cy="49011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Total course length: </a:t>
            </a:r>
            <a:r>
              <a:rPr lang="en-US" b="1" dirty="0"/>
              <a:t>500 ft</a:t>
            </a:r>
            <a:endParaRPr lang="en-US" dirty="0"/>
          </a:p>
          <a:p>
            <a:r>
              <a:rPr lang="en-US" dirty="0"/>
              <a:t>Lane widths vary between </a:t>
            </a:r>
            <a:r>
              <a:rPr lang="en-US" b="1" dirty="0"/>
              <a:t>10–20 ft</a:t>
            </a:r>
            <a:endParaRPr lang="en-US" dirty="0"/>
          </a:p>
          <a:p>
            <a:r>
              <a:rPr lang="en-US" dirty="0"/>
              <a:t>Surface: asphalt</a:t>
            </a:r>
          </a:p>
          <a:p>
            <a:r>
              <a:rPr lang="en-US" dirty="0"/>
              <a:t>Obstacles include:</a:t>
            </a:r>
          </a:p>
          <a:p>
            <a:pPr lvl="1"/>
            <a:r>
              <a:rPr lang="en-US" dirty="0"/>
              <a:t>Barrels</a:t>
            </a:r>
          </a:p>
          <a:p>
            <a:pPr lvl="1"/>
            <a:r>
              <a:rPr lang="en-US" dirty="0"/>
              <a:t>Potholes (white 2 ft circles)</a:t>
            </a:r>
          </a:p>
          <a:p>
            <a:pPr lvl="1"/>
            <a:r>
              <a:rPr lang="en-US" dirty="0"/>
              <a:t>Posts</a:t>
            </a:r>
          </a:p>
          <a:p>
            <a:pPr lvl="1"/>
            <a:r>
              <a:rPr lang="en-US" dirty="0"/>
              <a:t>Trees</a:t>
            </a:r>
          </a:p>
          <a:p>
            <a:pPr lvl="1"/>
            <a:r>
              <a:rPr lang="en-US" dirty="0"/>
              <a:t>Cones</a:t>
            </a:r>
          </a:p>
          <a:p>
            <a:pPr marL="0" indent="0">
              <a:buNone/>
            </a:pPr>
            <a:r>
              <a:rPr lang="en-US" b="1" dirty="0"/>
              <a:t>Speed Requirement</a:t>
            </a:r>
          </a:p>
          <a:p>
            <a:pPr lvl="1"/>
            <a:r>
              <a:rPr lang="en-US" dirty="0"/>
              <a:t>Must reach </a:t>
            </a:r>
            <a:r>
              <a:rPr lang="en-US" b="1" dirty="0"/>
              <a:t>1 mph within the first 44 ft</a:t>
            </a:r>
            <a:r>
              <a:rPr lang="en-US" dirty="0"/>
              <a:t>, otherwise the run ends.</a:t>
            </a:r>
          </a:p>
          <a:p>
            <a:pPr marL="0" indent="0">
              <a:buNone/>
            </a:pPr>
            <a:r>
              <a:rPr lang="en-US" b="1" dirty="0"/>
              <a:t>Time Limit</a:t>
            </a:r>
          </a:p>
          <a:p>
            <a:pPr lvl="1"/>
            <a:r>
              <a:rPr lang="en-US" b="1" dirty="0"/>
              <a:t>6 minutes</a:t>
            </a:r>
            <a:r>
              <a:rPr lang="en-US" dirty="0"/>
              <a:t> per run.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0455"/>
            <a:ext cx="7772400" cy="1456267"/>
          </a:xfrm>
        </p:spPr>
        <p:txBody>
          <a:bodyPr/>
          <a:lstStyle/>
          <a:p>
            <a:r>
              <a:rPr dirty="0" err="1"/>
              <a:t>AutoNav</a:t>
            </a:r>
            <a:r>
              <a:rPr dirty="0"/>
              <a:t> Violations &amp; Penalties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DC25D76-7380-285D-284D-9459B2D536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0415853"/>
              </p:ext>
            </p:extLst>
          </p:nvPr>
        </p:nvGraphicFramePr>
        <p:xfrm>
          <a:off x="457200" y="2314176"/>
          <a:ext cx="7772400" cy="4233061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1476297996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6286881"/>
                    </a:ext>
                  </a:extLst>
                </a:gridCol>
              </a:tblGrid>
              <a:tr h="604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Violation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Penalty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347182"/>
                  </a:ext>
                </a:extLst>
              </a:tr>
              <a:tr h="604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Leaving the course boundary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-10 ft + run ends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878555"/>
                  </a:ext>
                </a:extLst>
              </a:tr>
              <a:tr h="604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Obstacle displacement or crash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-10 ft + run ends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768609"/>
                  </a:ext>
                </a:extLst>
              </a:tr>
              <a:tr h="604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Sideswipe/touch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-5 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824562"/>
                  </a:ext>
                </a:extLst>
              </a:tr>
              <a:tr h="604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Careless driving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-5 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789569"/>
                  </a:ext>
                </a:extLst>
              </a:tr>
              <a:tr h="604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Payload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Immediate run termination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6306"/>
                  </a:ext>
                </a:extLst>
              </a:tr>
              <a:tr h="604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Failure to maintain 1 mph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“Hold-Up Traffic” infraction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210421"/>
                  </a:ext>
                </a:extLst>
              </a:tr>
            </a:tbl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844F40B2-2994-0520-4B0F-80E2D9F89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790210"/>
            <a:ext cx="53485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penalties affect scoring distance or end the run: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751"/>
            <a:ext cx="7772400" cy="1456267"/>
          </a:xfrm>
        </p:spPr>
        <p:txBody>
          <a:bodyPr/>
          <a:lstStyle/>
          <a:p>
            <a:r>
              <a:rPr dirty="0"/>
              <a:t>Self Drive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94688"/>
            <a:ext cx="8369808" cy="5035296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/>
              <a:t>Objective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2000" dirty="0"/>
              <a:t>Simulate advanced, real-world autonomous driving behavior:</a:t>
            </a:r>
          </a:p>
          <a:p>
            <a:pPr lvl="1">
              <a:spcAft>
                <a:spcPts val="300"/>
              </a:spcAft>
            </a:pPr>
            <a:r>
              <a:rPr lang="en-US" sz="1800" dirty="0"/>
              <a:t>Lane following</a:t>
            </a:r>
          </a:p>
          <a:p>
            <a:pPr lvl="1">
              <a:spcAft>
                <a:spcPts val="300"/>
              </a:spcAft>
            </a:pPr>
            <a:r>
              <a:rPr lang="en-US" sz="1800" dirty="0"/>
              <a:t>Turns &amp; intersections</a:t>
            </a:r>
          </a:p>
          <a:p>
            <a:pPr lvl="1">
              <a:spcAft>
                <a:spcPts val="300"/>
              </a:spcAft>
            </a:pPr>
            <a:r>
              <a:rPr lang="en-US" sz="1800" dirty="0"/>
              <a:t>Stop sign detection</a:t>
            </a:r>
          </a:p>
          <a:p>
            <a:pPr lvl="1">
              <a:spcAft>
                <a:spcPts val="300"/>
              </a:spcAft>
            </a:pPr>
            <a:r>
              <a:rPr lang="en-US" sz="1800" dirty="0"/>
              <a:t>Pedestrian detection (static + dynamic)</a:t>
            </a:r>
          </a:p>
          <a:p>
            <a:pPr lvl="1">
              <a:spcAft>
                <a:spcPts val="300"/>
              </a:spcAft>
            </a:pPr>
            <a:r>
              <a:rPr lang="en-US" sz="1800" dirty="0"/>
              <a:t>Obstacle avoidance</a:t>
            </a:r>
          </a:p>
          <a:p>
            <a:pPr lvl="1">
              <a:spcAft>
                <a:spcPts val="300"/>
              </a:spcAft>
            </a:pPr>
            <a:r>
              <a:rPr lang="en-US" sz="1800" dirty="0"/>
              <a:t>Parking maneuvers</a:t>
            </a:r>
          </a:p>
          <a:p>
            <a:pPr lvl="1">
              <a:spcAft>
                <a:spcPts val="300"/>
              </a:spcAft>
            </a:pPr>
            <a:r>
              <a:rPr lang="en-US" sz="1800" dirty="0"/>
              <a:t>Classification of </a:t>
            </a:r>
            <a:r>
              <a:rPr lang="en-US" sz="1800" b="1" dirty="0"/>
              <a:t>fake</a:t>
            </a:r>
            <a:r>
              <a:rPr lang="en-US" sz="1800" dirty="0"/>
              <a:t> road signs</a:t>
            </a:r>
          </a:p>
          <a:p>
            <a:pPr lvl="1">
              <a:spcAft>
                <a:spcPts val="300"/>
              </a:spcAft>
            </a:pPr>
            <a:r>
              <a:rPr lang="en-US" sz="1800" dirty="0"/>
              <a:t>High-level driving logic (ML/DL encouraged)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2000" dirty="0"/>
              <a:t>Self Drive focuses heavily on:</a:t>
            </a:r>
          </a:p>
          <a:p>
            <a:pPr lvl="1">
              <a:spcAft>
                <a:spcPts val="300"/>
              </a:spcAft>
            </a:pPr>
            <a:r>
              <a:rPr lang="en-US" sz="1800" b="1" dirty="0"/>
              <a:t>Perception systems</a:t>
            </a:r>
            <a:endParaRPr lang="en-US" sz="1800" dirty="0"/>
          </a:p>
          <a:p>
            <a:pPr lvl="1">
              <a:spcAft>
                <a:spcPts val="300"/>
              </a:spcAft>
            </a:pPr>
            <a:r>
              <a:rPr lang="en-US" sz="1800" b="1" dirty="0"/>
              <a:t>Machine Learning / Deep Learning</a:t>
            </a:r>
            <a:endParaRPr lang="en-US" sz="1800" dirty="0"/>
          </a:p>
          <a:p>
            <a:pPr lvl="1">
              <a:spcAft>
                <a:spcPts val="300"/>
              </a:spcAft>
            </a:pPr>
            <a:r>
              <a:rPr lang="en-US" sz="1800" b="1" dirty="0"/>
              <a:t>Sensor fusion</a:t>
            </a:r>
            <a:endParaRPr lang="en-US" sz="1800" dirty="0"/>
          </a:p>
          <a:p>
            <a:pPr lvl="1">
              <a:spcAft>
                <a:spcPts val="300"/>
              </a:spcAft>
            </a:pPr>
            <a:r>
              <a:rPr lang="en-US" sz="1800" b="1" dirty="0"/>
              <a:t>Driving state machines</a:t>
            </a:r>
            <a:endParaRPr lang="en-US" sz="1800" dirty="0"/>
          </a:p>
          <a:p>
            <a:pPr lvl="1">
              <a:spcAft>
                <a:spcPts val="300"/>
              </a:spcAft>
            </a:pPr>
            <a:r>
              <a:rPr lang="en-US" sz="1800" b="1" dirty="0"/>
              <a:t>Planning &amp; path decision logic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Self Drive Qualification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 teams must pass </a:t>
            </a:r>
            <a:r>
              <a:rPr lang="en-US" b="1" dirty="0"/>
              <a:t>four qualification tests</a:t>
            </a:r>
            <a:r>
              <a:rPr lang="en-US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Lane Keeping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Line Detection</a:t>
            </a:r>
            <a:r>
              <a:rPr lang="en-US" dirty="0"/>
              <a:t> (GUI-based verification)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Left Turn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Right Turn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No Self Drive team can advance without passing all four.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4663"/>
            <a:ext cx="7772400" cy="1456267"/>
          </a:xfrm>
        </p:spPr>
        <p:txBody>
          <a:bodyPr/>
          <a:lstStyle/>
          <a:p>
            <a:r>
              <a:rPr dirty="0"/>
              <a:t>Self Drive – Functions Testing (16 Tests)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3277"/>
            <a:ext cx="8229600" cy="4876800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dirty="0"/>
              <a:t>Each function is scored out of </a:t>
            </a:r>
            <a:r>
              <a:rPr lang="en-US" b="1" dirty="0"/>
              <a:t>100 points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Teams can retry multiple times; best score counts.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b="1" dirty="0"/>
              <a:t>Functions include: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Static pedestrian detection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Dynamic pedestrian detection (moving)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Tire (rubber obstacle) detection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Stop sign detection (real &amp; fake)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Lane keeping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Right turn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Left turn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Parking:</a:t>
            </a:r>
          </a:p>
          <a:p>
            <a:pPr lvl="2">
              <a:spcAft>
                <a:spcPts val="300"/>
              </a:spcAft>
            </a:pPr>
            <a:r>
              <a:rPr lang="en-US" dirty="0"/>
              <a:t>Pull-in</a:t>
            </a:r>
          </a:p>
          <a:p>
            <a:pPr lvl="2">
              <a:spcAft>
                <a:spcPts val="300"/>
              </a:spcAft>
            </a:pPr>
            <a:r>
              <a:rPr lang="en-US" dirty="0"/>
              <a:t>Pull-out</a:t>
            </a:r>
          </a:p>
          <a:p>
            <a:pPr lvl="2">
              <a:spcAft>
                <a:spcPts val="300"/>
              </a:spcAft>
            </a:pPr>
            <a:r>
              <a:rPr lang="en-US" dirty="0"/>
              <a:t>Parallel park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Lane change (with obstacles)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Lane change (with pedestrians)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Curved lane navigation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Pothole detection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Advanced logic tests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1826"/>
            <a:ext cx="8247888" cy="1456267"/>
          </a:xfrm>
        </p:spPr>
        <p:txBody>
          <a:bodyPr/>
          <a:lstStyle/>
          <a:p>
            <a:r>
              <a:rPr dirty="0"/>
              <a:t>Self Drive – Full Course (21</a:t>
            </a:r>
            <a:r>
              <a:rPr lang="en-GB" dirty="0"/>
              <a:t> Sequential</a:t>
            </a:r>
            <a:r>
              <a:rPr dirty="0"/>
              <a:t> Functions)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8093"/>
            <a:ext cx="8028432" cy="47061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complete autonomous run through all key behaviors:</a:t>
            </a:r>
          </a:p>
          <a:p>
            <a:pPr lvl="1"/>
            <a:r>
              <a:rPr lang="en-US" dirty="0"/>
              <a:t>Lane following &amp; lane changes</a:t>
            </a:r>
          </a:p>
          <a:p>
            <a:pPr lvl="1"/>
            <a:r>
              <a:rPr lang="en-US" dirty="0"/>
              <a:t>Intersections</a:t>
            </a:r>
          </a:p>
          <a:p>
            <a:pPr lvl="1"/>
            <a:r>
              <a:rPr lang="en-US" dirty="0"/>
              <a:t>Multiple turns</a:t>
            </a:r>
          </a:p>
          <a:p>
            <a:pPr lvl="1"/>
            <a:r>
              <a:rPr lang="en-US" dirty="0"/>
              <a:t>Stop signs (real &amp; fake signs mixed)</a:t>
            </a:r>
          </a:p>
          <a:p>
            <a:pPr lvl="1"/>
            <a:r>
              <a:rPr lang="en-US" dirty="0"/>
              <a:t>Pedestrians (static + moving)</a:t>
            </a:r>
          </a:p>
          <a:p>
            <a:pPr lvl="1"/>
            <a:r>
              <a:rPr lang="en-US" dirty="0"/>
              <a:t>Obstacle detection &amp; avoidance</a:t>
            </a:r>
          </a:p>
          <a:p>
            <a:pPr lvl="1"/>
            <a:r>
              <a:rPr lang="en-US" dirty="0"/>
              <a:t>Parking sequences</a:t>
            </a:r>
          </a:p>
          <a:p>
            <a:pPr marL="0" indent="0">
              <a:buNone/>
            </a:pPr>
            <a:r>
              <a:rPr lang="en-US" b="1" dirty="0"/>
              <a:t>Rules</a:t>
            </a:r>
          </a:p>
          <a:p>
            <a:pPr lvl="1"/>
            <a:r>
              <a:rPr lang="en-US" dirty="0"/>
              <a:t>Crossing any </a:t>
            </a:r>
            <a:r>
              <a:rPr lang="en-US" b="1" dirty="0"/>
              <a:t>solid white line</a:t>
            </a:r>
            <a:r>
              <a:rPr lang="en-US" dirty="0"/>
              <a:t> ends the run.</a:t>
            </a:r>
          </a:p>
          <a:p>
            <a:pPr lvl="1"/>
            <a:r>
              <a:rPr lang="en-US" dirty="0"/>
              <a:t>Hitting or moving obstacles ends the run.</a:t>
            </a:r>
          </a:p>
          <a:p>
            <a:pPr lvl="1"/>
            <a:r>
              <a:rPr lang="en-US" dirty="0"/>
              <a:t>All functions are scored for a total of:</a:t>
            </a:r>
          </a:p>
          <a:p>
            <a:pPr lvl="2"/>
            <a:r>
              <a:rPr lang="en-US" b="1" dirty="0"/>
              <a:t>2100 points</a:t>
            </a:r>
            <a:r>
              <a:rPr lang="en-US" dirty="0"/>
              <a:t> (21 × 100)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Three Components: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Design Report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Oral Presentation (with Q&amp;A)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Vehicle Technical Examination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Design Challenge evaluates engineering excellence, documentation, system architecture, and testing methodology.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5957"/>
            <a:ext cx="7772400" cy="1456267"/>
          </a:xfrm>
        </p:spPr>
        <p:txBody>
          <a:bodyPr/>
          <a:lstStyle/>
          <a:p>
            <a:r>
              <a:rPr dirty="0"/>
              <a:t>Design Report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4237"/>
            <a:ext cx="8229600" cy="4949952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300"/>
              </a:spcAft>
            </a:pPr>
            <a:r>
              <a:rPr lang="en-US" b="1" dirty="0"/>
              <a:t>Length:</a:t>
            </a:r>
            <a:endParaRPr lang="en-US" dirty="0"/>
          </a:p>
          <a:p>
            <a:pPr lvl="1">
              <a:spcAft>
                <a:spcPts val="300"/>
              </a:spcAft>
            </a:pPr>
            <a:r>
              <a:rPr lang="en-US" dirty="0"/>
              <a:t>15 pages for single-event teams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18 pages for dual-event teams</a:t>
            </a:r>
          </a:p>
          <a:p>
            <a:pPr>
              <a:spcAft>
                <a:spcPts val="300"/>
              </a:spcAft>
            </a:pPr>
            <a:r>
              <a:rPr lang="en-US" dirty="0"/>
              <a:t>Report must follow strict IGVC guidelines.</a:t>
            </a:r>
          </a:p>
          <a:p>
            <a:pPr>
              <a:spcAft>
                <a:spcPts val="300"/>
              </a:spcAft>
            </a:pPr>
            <a:r>
              <a:rPr lang="en-US" dirty="0"/>
              <a:t>Must include: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System architecture overview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Subsystem breakdown:</a:t>
            </a:r>
          </a:p>
          <a:p>
            <a:pPr lvl="2">
              <a:spcAft>
                <a:spcPts val="300"/>
              </a:spcAft>
            </a:pPr>
            <a:r>
              <a:rPr lang="en-US" dirty="0"/>
              <a:t>Mechanical design</a:t>
            </a:r>
          </a:p>
          <a:p>
            <a:pPr lvl="2">
              <a:spcAft>
                <a:spcPts val="300"/>
              </a:spcAft>
            </a:pPr>
            <a:r>
              <a:rPr lang="en-US" dirty="0"/>
              <a:t>Electrical systems</a:t>
            </a:r>
          </a:p>
          <a:p>
            <a:pPr lvl="2">
              <a:spcAft>
                <a:spcPts val="300"/>
              </a:spcAft>
            </a:pPr>
            <a:r>
              <a:rPr lang="en-US" dirty="0"/>
              <a:t>Software stack</a:t>
            </a:r>
          </a:p>
          <a:p>
            <a:pPr lvl="2">
              <a:spcAft>
                <a:spcPts val="300"/>
              </a:spcAft>
            </a:pPr>
            <a:r>
              <a:rPr lang="en-US" dirty="0"/>
              <a:t>Perception pipeline</a:t>
            </a:r>
          </a:p>
          <a:p>
            <a:pPr lvl="2">
              <a:spcAft>
                <a:spcPts val="300"/>
              </a:spcAft>
            </a:pPr>
            <a:r>
              <a:rPr lang="en-US" dirty="0"/>
              <a:t>Driving logic &amp; control architecture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KPIs:</a:t>
            </a:r>
          </a:p>
          <a:p>
            <a:pPr lvl="2">
              <a:spcAft>
                <a:spcPts val="300"/>
              </a:spcAft>
            </a:pPr>
            <a:r>
              <a:rPr lang="en-US" dirty="0"/>
              <a:t>Must be quantifiable</a:t>
            </a:r>
          </a:p>
          <a:p>
            <a:pPr lvl="2">
              <a:spcAft>
                <a:spcPts val="300"/>
              </a:spcAft>
            </a:pPr>
            <a:r>
              <a:rPr lang="en-US" dirty="0"/>
              <a:t>Must show testing, analysis, validation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Comparison of KPIs vs engineering objectives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Safety and reliability engineering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Improvement plans &amp; future work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b="1" i="1" dirty="0"/>
              <a:t>*Reusing past years’ reports is not allowed.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442B-F9F8-09D2-CC1B-A707E87AC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Challenge Scoring</a:t>
            </a:r>
            <a:endParaRPr lang="en-A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758387-E7FB-897E-8F9C-7C5FC8E654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903203"/>
            <a:ext cx="6526851" cy="212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Written Report Score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Oral Presentation Score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 Examination Score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performing teams from each judging group advance to finals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Finalist presentations judged independently</a:t>
            </a:r>
          </a:p>
        </p:txBody>
      </p:sp>
    </p:spTree>
    <p:extLst>
      <p:ext uri="{BB962C8B-B14F-4D97-AF65-F5344CB8AC3E}">
        <p14:creationId xmlns:p14="http://schemas.microsoft.com/office/powerpoint/2010/main" val="4150752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9058"/>
            <a:ext cx="7772400" cy="1456267"/>
          </a:xfrm>
        </p:spPr>
        <p:txBody>
          <a:bodyPr/>
          <a:lstStyle/>
          <a:p>
            <a:r>
              <a:rPr dirty="0"/>
              <a:t>Awards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4173"/>
            <a:ext cx="7772400" cy="5120640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b="1" dirty="0" err="1"/>
              <a:t>AutoNav</a:t>
            </a:r>
            <a:r>
              <a:rPr lang="en-US" b="1" dirty="0"/>
              <a:t> Awards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Based on adjusted time/distance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b="1" dirty="0"/>
              <a:t>Self Drive Awards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Functions Testing score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Full Course score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b="1" dirty="0"/>
              <a:t>Design Challenge Awards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Report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Presentation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Vehicle exam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b="1" dirty="0"/>
              <a:t>Top Performer Award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Best combined performance in </a:t>
            </a:r>
            <a:r>
              <a:rPr lang="en-US" dirty="0" err="1"/>
              <a:t>AutoNav</a:t>
            </a:r>
            <a:r>
              <a:rPr lang="en-US" dirty="0"/>
              <a:t> + Self Drive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b="1" dirty="0"/>
              <a:t>Rookie of the Year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Highest-scoring first-year team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b="1" dirty="0"/>
              <a:t>HBCU Flight Award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Recognition for top-performing HBCU team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b="1" dirty="0"/>
              <a:t>Grand Award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Overall competition champion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Highest combined score across all events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49</TotalTime>
  <Words>1097</Words>
  <Application>Microsoft Office PowerPoint</Application>
  <PresentationFormat>On-screen Show (4:3)</PresentationFormat>
  <Paragraphs>214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Celestial</vt:lpstr>
      <vt:lpstr>IGVC 2026 – COMBINED FULL PRESENTATION</vt:lpstr>
      <vt:lpstr>Competition Overview</vt:lpstr>
      <vt:lpstr>Key Updates for IGVC 2026</vt:lpstr>
      <vt:lpstr>Team Requirements</vt:lpstr>
      <vt:lpstr>Vehicle Requirements</vt:lpstr>
      <vt:lpstr>Qualification Requirements</vt:lpstr>
      <vt:lpstr>AutoNav Challenge – Objective</vt:lpstr>
      <vt:lpstr>AutoNav Course Details</vt:lpstr>
      <vt:lpstr>AutoNav Violations &amp; Penalties</vt:lpstr>
      <vt:lpstr>Self Drive – Objective</vt:lpstr>
      <vt:lpstr>Self Drive Qualification Tests</vt:lpstr>
      <vt:lpstr>Self Drive – Functions Testing (16 Tests)</vt:lpstr>
      <vt:lpstr>Self Drive – Full Course (21 Sequential Functions)</vt:lpstr>
      <vt:lpstr>Design Challenge</vt:lpstr>
      <vt:lpstr>Design Report Requirements</vt:lpstr>
      <vt:lpstr>Design Challenge Scoring</vt:lpstr>
      <vt:lpstr>Awards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Antony Ghayes</dc:creator>
  <cp:keywords/>
  <dc:description>generated using python-pptx</dc:description>
  <cp:lastModifiedBy>Antoni ghaes</cp:lastModifiedBy>
  <cp:revision>42</cp:revision>
  <dcterms:created xsi:type="dcterms:W3CDTF">2013-01-27T09:14:16Z</dcterms:created>
  <dcterms:modified xsi:type="dcterms:W3CDTF">2025-11-14T12:53:01Z</dcterms:modified>
  <cp:category/>
</cp:coreProperties>
</file>