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4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5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4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5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2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7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23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8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37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51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56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32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69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44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5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22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ERC 2025 Rules – Summary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Comprehensive Overview of European Rover Challenge Rulebook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133600"/>
            <a:ext cx="7243298" cy="4450080"/>
          </a:xfrm>
        </p:spPr>
        <p:txBody>
          <a:bodyPr/>
          <a:lstStyle/>
          <a:p>
            <a:endParaRPr dirty="0"/>
          </a:p>
          <a:p>
            <a:r>
              <a:rPr lang="en-US" dirty="0"/>
              <a:t>The European Rover Challenge (ERC) is one of the world’s leading planetary robotics competitions</a:t>
            </a:r>
          </a:p>
          <a:p>
            <a:r>
              <a:rPr lang="en-US" dirty="0"/>
              <a:t>University teams design and build Mars-analog rovers and support drones</a:t>
            </a:r>
          </a:p>
          <a:p>
            <a:r>
              <a:rPr lang="en-US" dirty="0"/>
              <a:t>Tasks simulate real planetary exploration missions aligned with international space robotics roadmaps</a:t>
            </a:r>
          </a:p>
          <a:p>
            <a:r>
              <a:rPr lang="en-US" dirty="0"/>
              <a:t>ERC 2025 will be held at </a:t>
            </a:r>
            <a:r>
              <a:rPr lang="en-US" b="1" dirty="0"/>
              <a:t>AGH University of Science and Technology, Kraków, Poland</a:t>
            </a:r>
            <a:endParaRPr lang="en-US" dirty="0"/>
          </a:p>
          <a:p>
            <a:r>
              <a:rPr lang="en-US" dirty="0"/>
              <a:t>The challenge blends engineering design, science, autonomy, and field performance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121408"/>
            <a:ext cx="7767554" cy="445008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Kick-Off &amp; Registration:</a:t>
            </a:r>
            <a:br>
              <a:rPr lang="en-US" dirty="0"/>
            </a:br>
            <a:r>
              <a:rPr lang="en-US" dirty="0"/>
              <a:t>Submission of registration forms + proposal</a:t>
            </a:r>
          </a:p>
          <a:p>
            <a:r>
              <a:rPr lang="en-US" b="1" dirty="0"/>
              <a:t>Preliminary Design Review (PDR):</a:t>
            </a:r>
            <a:br>
              <a:rPr lang="en-US" dirty="0"/>
            </a:br>
            <a:r>
              <a:rPr lang="en-US" dirty="0"/>
              <a:t>Delivery of Preliminary Report + initial RF Form</a:t>
            </a:r>
          </a:p>
          <a:p>
            <a:r>
              <a:rPr lang="en-US" b="1" dirty="0"/>
              <a:t>Qualification Phase:</a:t>
            </a:r>
            <a:br>
              <a:rPr lang="en-US" dirty="0"/>
            </a:br>
            <a:r>
              <a:rPr lang="en-US" dirty="0"/>
              <a:t>Teams selected based on documentation scoring</a:t>
            </a:r>
          </a:p>
          <a:p>
            <a:r>
              <a:rPr lang="en-US" b="1" dirty="0"/>
              <a:t>Critical Design Review (CDR):</a:t>
            </a:r>
            <a:br>
              <a:rPr lang="en-US" dirty="0"/>
            </a:br>
            <a:r>
              <a:rPr lang="en-US" dirty="0"/>
              <a:t>Submission of Final Report, Final RF Form &amp; Science Planning Report</a:t>
            </a:r>
          </a:p>
          <a:p>
            <a:r>
              <a:rPr lang="en-US" b="1" dirty="0"/>
              <a:t>ERC Finals (Field Trials):</a:t>
            </a:r>
            <a:br>
              <a:rPr lang="en-US" dirty="0"/>
            </a:br>
            <a:r>
              <a:rPr lang="en-US" dirty="0"/>
              <a:t>On-site task execution on the Mars Yard + Presentation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Required Deliverables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316480"/>
            <a:ext cx="7755362" cy="410870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Teams must submit high-quality technical documentation:</a:t>
            </a:r>
          </a:p>
          <a:p>
            <a:r>
              <a:rPr lang="en-GB" b="1" dirty="0"/>
              <a:t>Proposal</a:t>
            </a:r>
            <a:r>
              <a:rPr lang="en-GB" dirty="0"/>
              <a:t> (submitted at registration)</a:t>
            </a:r>
          </a:p>
          <a:p>
            <a:r>
              <a:rPr lang="en-GB" b="1" dirty="0"/>
              <a:t>Preliminary Design Report + RF Form</a:t>
            </a:r>
            <a:endParaRPr lang="en-GB" dirty="0"/>
          </a:p>
          <a:p>
            <a:r>
              <a:rPr lang="en-GB" b="1" dirty="0"/>
              <a:t>Final Design Report + Updated RF Form</a:t>
            </a:r>
            <a:endParaRPr lang="en-GB" dirty="0"/>
          </a:p>
          <a:p>
            <a:r>
              <a:rPr lang="en-GB" b="1" dirty="0"/>
              <a:t>Video Demonstration</a:t>
            </a:r>
            <a:r>
              <a:rPr lang="en-GB" dirty="0"/>
              <a:t> (10 minutes max)</a:t>
            </a:r>
          </a:p>
          <a:p>
            <a:r>
              <a:rPr lang="en-GB" b="1" dirty="0"/>
              <a:t>Science Planning Report</a:t>
            </a:r>
            <a:r>
              <a:rPr lang="en-GB" dirty="0"/>
              <a:t> (based on Mars Yard 3D model &amp; drone data)</a:t>
            </a:r>
          </a:p>
          <a:p>
            <a:r>
              <a:rPr lang="en-GB" b="1" dirty="0"/>
              <a:t>Droning Sub-Task Report</a:t>
            </a:r>
            <a:endParaRPr lang="en-GB" dirty="0"/>
          </a:p>
          <a:p>
            <a:r>
              <a:rPr lang="en-GB" b="1" dirty="0"/>
              <a:t>Scientific Exploration Final Report</a:t>
            </a:r>
            <a:r>
              <a:rPr lang="en-GB" dirty="0"/>
              <a:t> (submitted after the task)</a:t>
            </a:r>
          </a:p>
          <a:p>
            <a:r>
              <a:rPr lang="en-GB" b="1" dirty="0" err="1"/>
              <a:t>AstroBio</a:t>
            </a:r>
            <a:r>
              <a:rPr lang="en-GB" b="1" dirty="0"/>
              <a:t> Final Report</a:t>
            </a:r>
            <a:r>
              <a:rPr lang="en-GB" dirty="0"/>
              <a:t> (time-critical submission)</a:t>
            </a:r>
          </a:p>
          <a:p>
            <a:r>
              <a:rPr lang="en-GB" b="1" dirty="0"/>
              <a:t>Presentation File</a:t>
            </a:r>
            <a:r>
              <a:rPr lang="en-GB" dirty="0"/>
              <a:t> for judging panel</a:t>
            </a:r>
          </a:p>
          <a:p>
            <a:endParaRPr lang="en-GB" dirty="0"/>
          </a:p>
          <a:p>
            <a:pPr marL="0" indent="0">
              <a:buNone/>
            </a:pPr>
            <a:r>
              <a:rPr lang="en-US" b="1" i="1" dirty="0"/>
              <a:t>*Late submissions incur penalties up to 20% deduction per time unit.</a:t>
            </a:r>
            <a:endParaRPr lang="en-GB" b="1" i="1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157984"/>
            <a:ext cx="7828514" cy="447446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ERC 2025 includes </a:t>
            </a:r>
            <a:r>
              <a:rPr lang="en-GB" b="1" dirty="0"/>
              <a:t>five main tasks</a:t>
            </a:r>
            <a:r>
              <a:rPr lang="en-GB" dirty="0"/>
              <a:t>, each with multiple sub-tasks:</a:t>
            </a:r>
          </a:p>
          <a:p>
            <a:r>
              <a:rPr lang="en-GB" b="1" dirty="0"/>
              <a:t>1) Science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Scientific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Surface Sampling (</a:t>
            </a:r>
            <a:r>
              <a:rPr lang="en-GB" sz="1500" dirty="0" err="1"/>
              <a:t>regolith</a:t>
            </a:r>
            <a:r>
              <a:rPr lang="en-GB" sz="1500" dirty="0"/>
              <a:t> + rock)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Deep Sampling (core drilling)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Astro-Bio (biological markers &amp; environmental readings)</a:t>
            </a:r>
          </a:p>
          <a:p>
            <a:r>
              <a:rPr lang="en-GB" b="1" dirty="0"/>
              <a:t>2) Navigation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Autonomous Traverse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 dirty="0"/>
              <a:t>Droning Sub-Task (aerial reconnaissance, probe detection)</a:t>
            </a:r>
          </a:p>
          <a:p>
            <a:r>
              <a:rPr lang="en-GB" b="1" dirty="0"/>
              <a:t>3) Maintenance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Precision manipulation on a malfunctioning panel/device.</a:t>
            </a:r>
          </a:p>
          <a:p>
            <a:r>
              <a:rPr lang="en-GB" b="1" dirty="0"/>
              <a:t>4) Probing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Retrieval of environmental probes left by earlier missions.</a:t>
            </a:r>
          </a:p>
          <a:p>
            <a:r>
              <a:rPr lang="en-GB" b="1" dirty="0"/>
              <a:t>5) Presentation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Professional mission-style scientific/technical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Requirements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79746" cy="4094480"/>
          </a:xfrm>
        </p:spPr>
        <p:txBody>
          <a:bodyPr/>
          <a:lstStyle/>
          <a:p>
            <a:r>
              <a:rPr lang="en-US" dirty="0"/>
              <a:t>Rovers and drones must satisfy </a:t>
            </a:r>
            <a:r>
              <a:rPr lang="en-US" b="1" dirty="0"/>
              <a:t>Appendix 3 – Requirements </a:t>
            </a:r>
            <a:r>
              <a:rPr lang="en-US" dirty="0"/>
              <a:t>(mechanical, electrical, and safety).</a:t>
            </a:r>
          </a:p>
          <a:p>
            <a:r>
              <a:rPr lang="en-US" dirty="0"/>
              <a:t>Communication must use </a:t>
            </a:r>
            <a:r>
              <a:rPr lang="en-US" b="1" dirty="0"/>
              <a:t>approved frequencies </a:t>
            </a:r>
            <a:r>
              <a:rPr lang="en-US" dirty="0"/>
              <a:t>(2.4 GHz Wi-Fi, 5 GHz bands, amateur radio bands, etc.).</a:t>
            </a:r>
          </a:p>
          <a:p>
            <a:r>
              <a:rPr lang="en-US" b="1" dirty="0"/>
              <a:t>RF Check </a:t>
            </a:r>
            <a:r>
              <a:rPr lang="en-US" dirty="0"/>
              <a:t>is </a:t>
            </a:r>
            <a:r>
              <a:rPr lang="en-US" b="1" dirty="0"/>
              <a:t>mandatory</a:t>
            </a:r>
            <a:r>
              <a:rPr lang="en-US" dirty="0"/>
              <a:t> before competing.</a:t>
            </a:r>
          </a:p>
          <a:p>
            <a:r>
              <a:rPr lang="en-US" dirty="0"/>
              <a:t>Drone operations must occur inside the official droning cage.</a:t>
            </a:r>
          </a:p>
          <a:p>
            <a:r>
              <a:rPr lang="en-US" dirty="0"/>
              <a:t>Teams must follow all safety rules:</a:t>
            </a:r>
            <a:br>
              <a:rPr lang="en-US" dirty="0"/>
            </a:br>
            <a:r>
              <a:rPr lang="en-US" dirty="0"/>
              <a:t>Non-compliance may lead to disqualification.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93D2-04C0-64D3-70B9-D357498FD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Communication Regulations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17F6B-C605-050C-F7D0-12BEFCF1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200"/>
            <a:ext cx="7791938" cy="3530600"/>
          </a:xfrm>
        </p:spPr>
        <p:txBody>
          <a:bodyPr/>
          <a:lstStyle/>
          <a:p>
            <a:r>
              <a:rPr lang="en-GB" dirty="0"/>
              <a:t>Only legal RF frequencies permitted.</a:t>
            </a:r>
          </a:p>
          <a:p>
            <a:r>
              <a:rPr lang="en-GB" dirty="0"/>
              <a:t>Teams must submit accurate RF Forms and maintain RF compliance.</a:t>
            </a:r>
          </a:p>
          <a:p>
            <a:r>
              <a:rPr lang="en-GB" dirty="0"/>
              <a:t>Unauthorized configuration changes = –20 points per violation.</a:t>
            </a:r>
          </a:p>
          <a:p>
            <a:r>
              <a:rPr lang="en-GB" dirty="0"/>
              <a:t>4G/5G/LTE communication is allowed.</a:t>
            </a:r>
          </a:p>
          <a:p>
            <a:r>
              <a:rPr lang="en-GB" dirty="0"/>
              <a:t>Interference is possible, teams must design robust systems.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207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Scoring &amp; Qualification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92096"/>
            <a:ext cx="7804130" cy="4413504"/>
          </a:xfrm>
        </p:spPr>
        <p:txBody>
          <a:bodyPr>
            <a:normAutofit/>
          </a:bodyPr>
          <a:lstStyle/>
          <a:p>
            <a:r>
              <a:rPr lang="en-US" dirty="0"/>
              <a:t>Up to </a:t>
            </a:r>
            <a:r>
              <a:rPr lang="en-US" b="1" dirty="0"/>
              <a:t>20 teams qualify</a:t>
            </a:r>
            <a:r>
              <a:rPr lang="en-US" dirty="0"/>
              <a:t> + </a:t>
            </a:r>
            <a:r>
              <a:rPr lang="en-US" b="1" dirty="0"/>
              <a:t>5 Wild Card slots</a:t>
            </a:r>
            <a:r>
              <a:rPr lang="en-US" dirty="0"/>
              <a:t>.</a:t>
            </a:r>
          </a:p>
          <a:p>
            <a:r>
              <a:rPr lang="en-US" dirty="0"/>
              <a:t>Documentation quality has </a:t>
            </a:r>
            <a:r>
              <a:rPr lang="en-US" b="1" dirty="0"/>
              <a:t>major impact</a:t>
            </a:r>
            <a:r>
              <a:rPr lang="en-US" dirty="0"/>
              <a:t> on qualification.</a:t>
            </a:r>
          </a:p>
          <a:p>
            <a:r>
              <a:rPr lang="en-US" dirty="0"/>
              <a:t>Each task has its own </a:t>
            </a:r>
            <a:r>
              <a:rPr lang="en-US" b="1" dirty="0"/>
              <a:t>detailed scoring criteria</a:t>
            </a:r>
            <a:r>
              <a:rPr lang="en-US" dirty="0"/>
              <a:t> (Appendix 2).</a:t>
            </a:r>
          </a:p>
          <a:p>
            <a:r>
              <a:rPr lang="en-US" dirty="0"/>
              <a:t>Penalties apply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Delays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Incomplete documentation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RF non-compliance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Unsafe operations</a:t>
            </a:r>
          </a:p>
          <a:p>
            <a:r>
              <a:rPr lang="en-US" b="1" dirty="0"/>
              <a:t>Additional awards</a:t>
            </a:r>
            <a:r>
              <a:rPr lang="en-US" dirty="0"/>
              <a:t> include best-in-task recognition:</a:t>
            </a:r>
            <a:br>
              <a:rPr lang="en-US" dirty="0"/>
            </a:br>
            <a:r>
              <a:rPr lang="en-US" dirty="0"/>
              <a:t>Science, Navigation, Droning, Maintenance, Probing, and Presentation.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</TotalTime>
  <Words>519</Words>
  <Application>Microsoft Office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ERC 2025 Rules – Summary Presentation</vt:lpstr>
      <vt:lpstr>Overview</vt:lpstr>
      <vt:lpstr>Main Milestones</vt:lpstr>
      <vt:lpstr>Required Deliverables</vt:lpstr>
      <vt:lpstr>Tasks Overview</vt:lpstr>
      <vt:lpstr>Technical Requirements</vt:lpstr>
      <vt:lpstr>Communication Regulations</vt:lpstr>
      <vt:lpstr>Scoring &amp; Qualification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Antony Ghayes</dc:creator>
  <cp:keywords/>
  <dc:description>generated using python-pptx</dc:description>
  <cp:lastModifiedBy>Antoni ghaes</cp:lastModifiedBy>
  <cp:revision>22</cp:revision>
  <dcterms:created xsi:type="dcterms:W3CDTF">2013-01-27T09:14:16Z</dcterms:created>
  <dcterms:modified xsi:type="dcterms:W3CDTF">2025-11-14T11:11:16Z</dcterms:modified>
  <cp:category/>
</cp:coreProperties>
</file>