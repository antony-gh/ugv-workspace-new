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0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13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31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15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348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22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83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00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40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15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81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13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72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21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87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13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5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9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overchallenge.e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829057"/>
            <a:ext cx="6773225" cy="3948324"/>
          </a:xfrm>
        </p:spPr>
        <p:txBody>
          <a:bodyPr/>
          <a:lstStyle/>
          <a:p>
            <a:r>
              <a:rPr lang="en-US" dirty="0"/>
              <a:t>ERC 2026 Rules – Full Comprehensive Summary Presentation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6625741" cy="861420"/>
          </a:xfrm>
        </p:spPr>
        <p:txBody>
          <a:bodyPr/>
          <a:lstStyle/>
          <a:p>
            <a:r>
              <a:rPr lang="en-US" dirty="0"/>
              <a:t>European Rover Challenge Official Rulebook Overview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90916"/>
            <a:ext cx="7791938" cy="4353724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European Rover Challenge (ERC) </a:t>
            </a:r>
            <a:r>
              <a:rPr lang="en-US" dirty="0"/>
              <a:t>is one of the world’s leading international planetary robotics competitions</a:t>
            </a:r>
          </a:p>
          <a:p>
            <a:r>
              <a:rPr lang="en-US" dirty="0"/>
              <a:t>University teams design and build </a:t>
            </a:r>
            <a:r>
              <a:rPr lang="en-US" b="1" dirty="0"/>
              <a:t>Mars-analog rovers and support drones</a:t>
            </a:r>
          </a:p>
          <a:p>
            <a:r>
              <a:rPr lang="en-US" dirty="0"/>
              <a:t>Tasks simulate </a:t>
            </a:r>
            <a:r>
              <a:rPr lang="en-US" b="1" dirty="0"/>
              <a:t>real planetary </a:t>
            </a:r>
            <a:r>
              <a:rPr lang="en-US" dirty="0"/>
              <a:t>exploration missions, following modern space robotics roadmaps</a:t>
            </a:r>
          </a:p>
          <a:p>
            <a:r>
              <a:rPr lang="en-US" dirty="0"/>
              <a:t>ERC blends </a:t>
            </a:r>
            <a:r>
              <a:rPr lang="en-US" b="1" dirty="0"/>
              <a:t>engineering design</a:t>
            </a:r>
            <a:r>
              <a:rPr lang="en-US" dirty="0"/>
              <a:t>, </a:t>
            </a:r>
            <a:r>
              <a:rPr lang="en-US" b="1" dirty="0"/>
              <a:t>science</a:t>
            </a:r>
            <a:r>
              <a:rPr lang="en-US" dirty="0"/>
              <a:t>, </a:t>
            </a:r>
            <a:r>
              <a:rPr lang="en-US" b="1" dirty="0"/>
              <a:t>autonomy</a:t>
            </a:r>
            <a:r>
              <a:rPr lang="en-US" dirty="0"/>
              <a:t>, and </a:t>
            </a:r>
            <a:r>
              <a:rPr lang="en-US" b="1" dirty="0"/>
              <a:t>field performance</a:t>
            </a:r>
          </a:p>
          <a:p>
            <a:r>
              <a:rPr lang="en-US" dirty="0"/>
              <a:t>ERC 2026 will be held at </a:t>
            </a:r>
            <a:r>
              <a:rPr lang="en-US" b="1" dirty="0"/>
              <a:t>AGH University of Science and Technology, Kraków, Poland</a:t>
            </a:r>
          </a:p>
          <a:p>
            <a:r>
              <a:rPr lang="en-US" dirty="0"/>
              <a:t>The past year's 11th edition of </a:t>
            </a:r>
            <a:r>
              <a:rPr lang="en-US" u="sng" dirty="0">
                <a:hlinkClick r:id="rId2" tooltip="ERC"/>
              </a:rPr>
              <a:t>ERC</a:t>
            </a:r>
            <a:r>
              <a:rPr lang="en-US" dirty="0"/>
              <a:t> took place on </a:t>
            </a:r>
            <a:r>
              <a:rPr lang="en-US" b="1" dirty="0"/>
              <a:t>August 29–31, 2025, at AGH</a:t>
            </a:r>
            <a:endParaRPr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Competition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328672"/>
            <a:ext cx="7852898" cy="3950208"/>
          </a:xfrm>
        </p:spPr>
        <p:txBody>
          <a:bodyPr/>
          <a:lstStyle/>
          <a:p>
            <a:endParaRPr dirty="0"/>
          </a:p>
          <a:p>
            <a:r>
              <a:rPr lang="en-US" dirty="0"/>
              <a:t>Serves as a </a:t>
            </a:r>
            <a:r>
              <a:rPr lang="en-US" b="1" dirty="0"/>
              <a:t>benchmarking platform </a:t>
            </a:r>
            <a:r>
              <a:rPr lang="en-US" dirty="0"/>
              <a:t>for planetary exploration technologies</a:t>
            </a:r>
          </a:p>
          <a:p>
            <a:r>
              <a:rPr lang="en-US" dirty="0"/>
              <a:t>Emphasizes </a:t>
            </a:r>
            <a:r>
              <a:rPr lang="en-US" b="1" dirty="0"/>
              <a:t>engineering excellence</a:t>
            </a:r>
            <a:r>
              <a:rPr lang="en-US" dirty="0"/>
              <a:t>, </a:t>
            </a:r>
            <a:r>
              <a:rPr lang="en-US" b="1" dirty="0"/>
              <a:t>scientific reasoning</a:t>
            </a:r>
            <a:r>
              <a:rPr lang="en-US" dirty="0"/>
              <a:t>, and </a:t>
            </a:r>
            <a:r>
              <a:rPr lang="en-US" b="1" dirty="0"/>
              <a:t>autonomous systems</a:t>
            </a:r>
            <a:endParaRPr lang="en-US" dirty="0"/>
          </a:p>
          <a:p>
            <a:r>
              <a:rPr lang="en-US" dirty="0"/>
              <a:t>Promotes </a:t>
            </a:r>
            <a:r>
              <a:rPr lang="en-US" b="1" dirty="0"/>
              <a:t>multidisciplinary collaboration</a:t>
            </a:r>
            <a:r>
              <a:rPr lang="en-US" dirty="0"/>
              <a:t>, innovation, and STEM growth</a:t>
            </a:r>
          </a:p>
          <a:p>
            <a:r>
              <a:rPr lang="en-US" dirty="0"/>
              <a:t>Encourages teams to follow real mission methodologies used by space agencies.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Organizational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Organized by the </a:t>
            </a:r>
            <a:r>
              <a:rPr lang="en-US" b="1" dirty="0"/>
              <a:t>European Space Foundation </a:t>
            </a:r>
            <a:r>
              <a:rPr lang="en-US" dirty="0"/>
              <a:t>and </a:t>
            </a:r>
            <a:r>
              <a:rPr lang="en-US" b="1" dirty="0"/>
              <a:t>Polish Space Professionals Association</a:t>
            </a:r>
          </a:p>
          <a:p>
            <a:r>
              <a:rPr lang="en-US" dirty="0"/>
              <a:t>Judging is done by </a:t>
            </a:r>
            <a:r>
              <a:rPr lang="en-US" b="1" dirty="0"/>
              <a:t>independent experts </a:t>
            </a:r>
            <a:r>
              <a:rPr lang="en-US" dirty="0"/>
              <a:t>from academia and industry</a:t>
            </a:r>
          </a:p>
          <a:p>
            <a:r>
              <a:rPr lang="en-US" dirty="0"/>
              <a:t>Teams receive Q&amp;A access and periodic updates throughout the competition cycle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</a:t>
            </a:r>
            <a:r>
              <a:rPr lang="en-GB" dirty="0"/>
              <a:t>Main Milestones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304288"/>
            <a:ext cx="7791938" cy="4364736"/>
          </a:xfrm>
        </p:spPr>
        <p:txBody>
          <a:bodyPr>
            <a:normAutofit/>
          </a:bodyPr>
          <a:lstStyle/>
          <a:p>
            <a:r>
              <a:rPr lang="en-US" b="1" dirty="0"/>
              <a:t>Kick-Off &amp; Registration:</a:t>
            </a:r>
            <a:br>
              <a:rPr lang="en-US" dirty="0"/>
            </a:br>
            <a:r>
              <a:rPr lang="en-US" dirty="0"/>
              <a:t>Submission of registration forms, proposal, and initial documentation</a:t>
            </a:r>
          </a:p>
          <a:p>
            <a:r>
              <a:rPr lang="en-US" b="1" dirty="0"/>
              <a:t>Preliminary Design Review (PDR):</a:t>
            </a:r>
            <a:br>
              <a:rPr lang="en-US" dirty="0"/>
            </a:br>
            <a:r>
              <a:rPr lang="en-US" dirty="0"/>
              <a:t>Submission of Preliminary Design Report + initial RF Form</a:t>
            </a:r>
          </a:p>
          <a:p>
            <a:r>
              <a:rPr lang="en-US" b="1" dirty="0"/>
              <a:t>Qualification Phase:</a:t>
            </a:r>
            <a:br>
              <a:rPr lang="en-US" dirty="0"/>
            </a:br>
            <a:r>
              <a:rPr lang="en-US" dirty="0"/>
              <a:t>Jury evaluates documentation to select official finalists</a:t>
            </a:r>
          </a:p>
          <a:p>
            <a:r>
              <a:rPr lang="en-US" b="1" dirty="0"/>
              <a:t>Critical Design Review (CDR):</a:t>
            </a:r>
            <a:br>
              <a:rPr lang="en-US" dirty="0"/>
            </a:br>
            <a:r>
              <a:rPr lang="en-US" dirty="0"/>
              <a:t>Submission of Final Design Report, Final RF Form, and the Science Planning Report</a:t>
            </a:r>
          </a:p>
          <a:p>
            <a:r>
              <a:rPr lang="en-US" b="1" dirty="0"/>
              <a:t>ERC Finals – Field Trials:</a:t>
            </a:r>
            <a:br>
              <a:rPr lang="en-US" dirty="0"/>
            </a:br>
            <a:r>
              <a:rPr lang="en-US" dirty="0"/>
              <a:t>On-site rover and drone operations performed on the Mars Yard.</a:t>
            </a:r>
            <a:br>
              <a:rPr lang="en-US" dirty="0"/>
            </a:br>
            <a:r>
              <a:rPr lang="en-US" dirty="0"/>
              <a:t>Includes all mission tasks + the official Presentation Task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Required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91938" cy="3911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Teams must submit complete and high-quality technical documents:</a:t>
            </a:r>
            <a:br>
              <a:rPr lang="en-US" dirty="0"/>
            </a:br>
            <a:endParaRPr dirty="0"/>
          </a:p>
          <a:p>
            <a:r>
              <a:rPr dirty="0"/>
              <a:t>Proposal (submitted with registration)</a:t>
            </a:r>
          </a:p>
          <a:p>
            <a:r>
              <a:rPr dirty="0"/>
              <a:t>Preliminary Design Report (technical maturity)</a:t>
            </a:r>
            <a:r>
              <a:rPr lang="en-GB" dirty="0"/>
              <a:t> + RF Form</a:t>
            </a:r>
            <a:endParaRPr dirty="0"/>
          </a:p>
          <a:p>
            <a:r>
              <a:rPr dirty="0"/>
              <a:t>Final Design Report (complete system documentation)</a:t>
            </a:r>
          </a:p>
          <a:p>
            <a:r>
              <a:rPr dirty="0"/>
              <a:t>Radio Frequency Form (mandatory for each RF module)</a:t>
            </a:r>
          </a:p>
          <a:p>
            <a:r>
              <a:rPr dirty="0"/>
              <a:t>Science Planning Report (geology-based mission planning)</a:t>
            </a:r>
            <a:endParaRPr lang="en-GB" dirty="0"/>
          </a:p>
          <a:p>
            <a:r>
              <a:rPr lang="en-GB" dirty="0"/>
              <a:t>Droning Sub-Task Report</a:t>
            </a:r>
            <a:endParaRPr dirty="0"/>
          </a:p>
          <a:p>
            <a:r>
              <a:rPr lang="en-GB" dirty="0"/>
              <a:t>Scientific Exploration Final Report</a:t>
            </a:r>
          </a:p>
          <a:p>
            <a:r>
              <a:rPr lang="en-GB" b="1" dirty="0" err="1"/>
              <a:t>AstroBio</a:t>
            </a:r>
            <a:r>
              <a:rPr lang="en-GB" dirty="0"/>
              <a:t> Final Report (time-critical submission)</a:t>
            </a:r>
          </a:p>
          <a:p>
            <a:r>
              <a:rPr lang="en-GB" dirty="0"/>
              <a:t>10-minute capability demonstration video</a:t>
            </a:r>
          </a:p>
          <a:p>
            <a:r>
              <a:rPr lang="en-US" dirty="0"/>
              <a:t>Final presentation slides for jury evaluation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US" b="1" i="1" dirty="0"/>
              <a:t>*Late submissions result in penalties up to 20% per time unit.</a:t>
            </a:r>
            <a:endParaRPr b="1" i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Submission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06594" cy="3984752"/>
          </a:xfrm>
        </p:spPr>
        <p:txBody>
          <a:bodyPr/>
          <a:lstStyle/>
          <a:p>
            <a:endParaRPr dirty="0"/>
          </a:p>
          <a:p>
            <a:r>
              <a:rPr lang="en-US" dirty="0"/>
              <a:t>All deadlines are strictly enforced.</a:t>
            </a:r>
          </a:p>
          <a:p>
            <a:r>
              <a:rPr lang="en-US" dirty="0"/>
              <a:t>Documentation must follow provided formatting, naming, and content rules.</a:t>
            </a:r>
          </a:p>
          <a:p>
            <a:r>
              <a:rPr lang="en-US" dirty="0"/>
              <a:t>Video demonstrations must show: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Rover mobility and manipulation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Drone takeoff, flight, and landing</a:t>
            </a:r>
          </a:p>
          <a:p>
            <a:r>
              <a:rPr lang="en-US" dirty="0"/>
              <a:t>Any missing or unclear sections reduce evaluation score.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Tasks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944" y="2218944"/>
            <a:ext cx="7973568" cy="453542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ERC 2026 consists of </a:t>
            </a:r>
            <a:r>
              <a:rPr lang="en-GB" b="1" dirty="0"/>
              <a:t>five major tasks</a:t>
            </a:r>
            <a:r>
              <a:rPr lang="en-GB" dirty="0"/>
              <a:t>, each containing sub-tasks:</a:t>
            </a:r>
          </a:p>
          <a:p>
            <a:r>
              <a:rPr lang="en-GB" b="1" dirty="0"/>
              <a:t>1) Science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Scientific Exploration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Surface Sampling (</a:t>
            </a:r>
            <a:r>
              <a:rPr lang="en-GB" dirty="0" err="1"/>
              <a:t>regolith</a:t>
            </a:r>
            <a:r>
              <a:rPr lang="en-GB" dirty="0"/>
              <a:t> &amp; rock)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Deep Sampling (core drilling)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AstroBio</a:t>
            </a:r>
            <a:r>
              <a:rPr lang="en-GB" dirty="0"/>
              <a:t> (biological &amp; environmental measurements)</a:t>
            </a:r>
          </a:p>
          <a:p>
            <a:r>
              <a:rPr lang="en-GB" b="1" dirty="0"/>
              <a:t>2) Navigation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Autonomous waypoint traversal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Droning Sub-Task (aerial reconnaissance, probe detection)</a:t>
            </a:r>
          </a:p>
          <a:p>
            <a:r>
              <a:rPr lang="en-GB" b="1" dirty="0"/>
              <a:t>3) Maintenance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Perform precise manipulation on a malfunctioning device/payload</a:t>
            </a:r>
          </a:p>
          <a:p>
            <a:r>
              <a:rPr lang="en-GB" b="1" dirty="0"/>
              <a:t>4) Probing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Retrieve environmental probes from designated locations</a:t>
            </a:r>
          </a:p>
          <a:p>
            <a:r>
              <a:rPr lang="en-GB" b="1" dirty="0"/>
              <a:t>5) Presentation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Mission-style scientific &amp; engineering presentation to judges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Science Task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67712"/>
            <a:ext cx="7706594" cy="4401312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Part 1: Regional Geological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Remote analysis and selection of potential landing zones.</a:t>
            </a:r>
          </a:p>
          <a:p>
            <a:r>
              <a:rPr lang="en-GB" b="1" dirty="0"/>
              <a:t>Part 2: Science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Mapping, hypothesis building, mission objectives, sampling strategy.</a:t>
            </a:r>
          </a:p>
          <a:p>
            <a:r>
              <a:rPr lang="en-GB" b="1" dirty="0"/>
              <a:t>Part 3: Scientific Exploration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Field verification, sample identification, USO (unusual surface object) analysis.</a:t>
            </a:r>
          </a:p>
          <a:p>
            <a:r>
              <a:rPr lang="en-GB" b="1" dirty="0"/>
              <a:t>Teams must: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Produce geological maps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Validate scientific hypotheses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Collect samples with supporting photos and mass measurements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Navigation Task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01824"/>
            <a:ext cx="7901666" cy="3901440"/>
          </a:xfrm>
        </p:spPr>
        <p:txBody>
          <a:bodyPr/>
          <a:lstStyle/>
          <a:p>
            <a:r>
              <a:rPr lang="en-GB" dirty="0"/>
              <a:t>Rover must autonomously navigate waypoint routes.</a:t>
            </a:r>
          </a:p>
          <a:p>
            <a:r>
              <a:rPr lang="en-GB" dirty="0"/>
              <a:t>Drone performs supporting aerial reconnaissance: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Detecting obstacles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Identifying probes</a:t>
            </a:r>
          </a:p>
          <a:p>
            <a:r>
              <a:rPr lang="en-GB" dirty="0"/>
              <a:t>Drone must return safely to its launch zone.</a:t>
            </a:r>
          </a:p>
          <a:p>
            <a:r>
              <a:rPr lang="en-GB" dirty="0"/>
              <a:t>Scoring emphasizes autonomy, robustness, and mission design.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Maintenance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67554" cy="3935984"/>
          </a:xfrm>
        </p:spPr>
        <p:txBody>
          <a:bodyPr/>
          <a:lstStyle/>
          <a:p>
            <a:r>
              <a:rPr lang="en-US" dirty="0"/>
              <a:t>Simulates field repair of malfunctioning equipment.</a:t>
            </a:r>
          </a:p>
          <a:p>
            <a:r>
              <a:rPr lang="en-US" dirty="0"/>
              <a:t>Includes operations such 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Pressing buttons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Toggling switches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Reconnecting plugs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Operating tools and mechanical elements</a:t>
            </a:r>
          </a:p>
          <a:p>
            <a:r>
              <a:rPr lang="en-US" dirty="0"/>
              <a:t>Requires precise control and well-designed user interfaces.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Probing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79746" cy="3530600"/>
          </a:xfrm>
        </p:spPr>
        <p:txBody>
          <a:bodyPr/>
          <a:lstStyle/>
          <a:p>
            <a:endParaRPr dirty="0"/>
          </a:p>
          <a:p>
            <a:r>
              <a:rPr dirty="0"/>
              <a:t>Rovers collect environmental probes left from previous missions</a:t>
            </a:r>
          </a:p>
          <a:p>
            <a:r>
              <a:rPr dirty="0"/>
              <a:t>Focuses on navigation, manipulation, and sample handling</a:t>
            </a:r>
          </a:p>
          <a:p>
            <a:r>
              <a:rPr dirty="0"/>
              <a:t>Must ensure safe transport of probes back to start line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Presentation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79746" cy="4070096"/>
          </a:xfrm>
        </p:spPr>
        <p:txBody>
          <a:bodyPr>
            <a:normAutofit/>
          </a:bodyPr>
          <a:lstStyle/>
          <a:p>
            <a:r>
              <a:rPr lang="en-US" dirty="0"/>
              <a:t>Teams deliver polished scientific/engineering presentations.</a:t>
            </a:r>
          </a:p>
          <a:p>
            <a:r>
              <a:rPr lang="en-US" dirty="0"/>
              <a:t>Must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Mission strategy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Rover and drone architecture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Science results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Testing and validation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Innovation and design philosophy</a:t>
            </a:r>
          </a:p>
          <a:p>
            <a:r>
              <a:rPr lang="en-US" dirty="0"/>
              <a:t>Judged based on clarity, structure, technical depth, and creativity.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328672"/>
            <a:ext cx="7767554" cy="4303776"/>
          </a:xfrm>
        </p:spPr>
        <p:txBody>
          <a:bodyPr>
            <a:normAutofit/>
          </a:bodyPr>
          <a:lstStyle/>
          <a:p>
            <a:r>
              <a:rPr lang="en-US" dirty="0"/>
              <a:t>All systems must comply with </a:t>
            </a:r>
            <a:r>
              <a:rPr lang="en-US" b="1" dirty="0"/>
              <a:t>Appendix 3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Mechanical specifications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Electrical configuration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Power distribution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Thermal safety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Weight and size limits</a:t>
            </a:r>
          </a:p>
          <a:p>
            <a:r>
              <a:rPr lang="en-US" dirty="0"/>
              <a:t>Mandatory RF Check before each competition task</a:t>
            </a:r>
          </a:p>
          <a:p>
            <a:r>
              <a:rPr lang="en-US" dirty="0"/>
              <a:t>Drone operations are allowed only within the protected droning cage</a:t>
            </a:r>
          </a:p>
          <a:p>
            <a:r>
              <a:rPr lang="en-US" dirty="0"/>
              <a:t>Unsafe hardware or procedures may result in team disqualification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717454" cy="709865"/>
          </a:xfrm>
        </p:spPr>
        <p:txBody>
          <a:bodyPr/>
          <a:lstStyle/>
          <a:p>
            <a:r>
              <a:rPr dirty="0"/>
              <a:t>14. </a:t>
            </a:r>
            <a:r>
              <a:rPr lang="en-GB" dirty="0"/>
              <a:t>Communication Regulations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682210" cy="3948176"/>
          </a:xfrm>
        </p:spPr>
        <p:txBody>
          <a:bodyPr/>
          <a:lstStyle/>
          <a:p>
            <a:r>
              <a:rPr lang="en-GB" dirty="0"/>
              <a:t>Allowed communication technologies: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Wi-Fi 2.4 / 5 GHz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Selected amateur radio bands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LTE / 4G / 5G</a:t>
            </a:r>
          </a:p>
          <a:p>
            <a:r>
              <a:rPr lang="en-GB" dirty="0"/>
              <a:t>Teams must maintain accurate RF documentation</a:t>
            </a:r>
          </a:p>
          <a:p>
            <a:r>
              <a:rPr lang="en-GB" dirty="0"/>
              <a:t>Any unauthorized changes = –20 points </a:t>
            </a:r>
            <a:r>
              <a:rPr lang="en-GB" b="1" dirty="0"/>
              <a:t>per violation</a:t>
            </a:r>
          </a:p>
          <a:p>
            <a:r>
              <a:rPr lang="en-GB" dirty="0"/>
              <a:t>Interference may occur; systems must be designed for resilience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Venue &amp; Field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67554" cy="4167632"/>
          </a:xfrm>
        </p:spPr>
        <p:txBody>
          <a:bodyPr/>
          <a:lstStyle/>
          <a:p>
            <a:r>
              <a:rPr lang="en-US" dirty="0"/>
              <a:t>Outdoor Mars Yard includes: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Rocks, slopes, boulders, dunes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Loose regolith and uneven terrain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Man-made structures and hazards</a:t>
            </a:r>
          </a:p>
          <a:p>
            <a:r>
              <a:rPr lang="en-US" dirty="0"/>
              <a:t>Environmental conditions: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Heat, cold, wind, or rain</a:t>
            </a:r>
          </a:p>
          <a:p>
            <a:r>
              <a:rPr lang="en-US" dirty="0"/>
              <a:t>Teams will operate from a control tent without line-of-sight.</a:t>
            </a:r>
          </a:p>
          <a:p>
            <a:r>
              <a:rPr lang="en-US" dirty="0"/>
              <a:t>Warm-up day provided, but terrain may still change.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Scoring &amp; Qualification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01824"/>
            <a:ext cx="7730978" cy="3938016"/>
          </a:xfrm>
        </p:spPr>
        <p:txBody>
          <a:bodyPr/>
          <a:lstStyle/>
          <a:p>
            <a:r>
              <a:rPr lang="en-GB" dirty="0"/>
              <a:t>Up to 20 teams qualify + 5 Wild Card entries.</a:t>
            </a:r>
          </a:p>
          <a:p>
            <a:r>
              <a:rPr lang="en-GB" dirty="0"/>
              <a:t>Documentation quality heavily influences qualification</a:t>
            </a:r>
          </a:p>
          <a:p>
            <a:r>
              <a:rPr lang="en-GB" dirty="0"/>
              <a:t>Scoring follows per-task criteria found in </a:t>
            </a:r>
            <a:r>
              <a:rPr lang="en-GB" b="1" dirty="0"/>
              <a:t>Appendix 2</a:t>
            </a:r>
            <a:endParaRPr lang="en-GB" dirty="0"/>
          </a:p>
          <a:p>
            <a:r>
              <a:rPr lang="en-GB" dirty="0"/>
              <a:t>Penalties applied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Delays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Safety issues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RF violations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Improper procedures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Damaging the Mars Yard or equipment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Awards &amp;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79904"/>
            <a:ext cx="7804130" cy="443788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Main awards: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1st, 2nd, and 3rd place overall</a:t>
            </a:r>
          </a:p>
          <a:p>
            <a:r>
              <a:rPr lang="en-GB" dirty="0"/>
              <a:t>Best-in-task awards: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Science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Navigation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Droning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Maintenance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Probing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Presentation</a:t>
            </a:r>
          </a:p>
          <a:p>
            <a:r>
              <a:rPr lang="en-GB" dirty="0"/>
              <a:t>Additional: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Special innovation award (if applicable)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Commemorative rover stickers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Digital participation certificates for team members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Final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28514" cy="4057904"/>
          </a:xfrm>
        </p:spPr>
        <p:txBody>
          <a:bodyPr/>
          <a:lstStyle/>
          <a:p>
            <a:endParaRPr dirty="0"/>
          </a:p>
          <a:p>
            <a:r>
              <a:rPr lang="en-US" dirty="0"/>
              <a:t>Teams are fully responsible for the safety of their rover, drone, and operations.</a:t>
            </a:r>
          </a:p>
          <a:p>
            <a:r>
              <a:rPr lang="en-US" dirty="0"/>
              <a:t>The organizer may adjust schedules due to weather or operational constraints.</a:t>
            </a:r>
          </a:p>
          <a:p>
            <a:r>
              <a:rPr lang="en-US" dirty="0"/>
              <a:t>Jury decisions are final and binding.</a:t>
            </a:r>
          </a:p>
          <a:p>
            <a:r>
              <a:rPr lang="en-US" dirty="0"/>
              <a:t>ERC aims to develop the next generation of planetary robotics engineers and researchers.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</TotalTime>
  <Words>1036</Words>
  <Application>Microsoft Office PowerPoint</Application>
  <PresentationFormat>On-screen Show (4:3)</PresentationFormat>
  <Paragraphs>160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 Boardroom</vt:lpstr>
      <vt:lpstr>ERC 2026 Rules – Full Comprehensive Summary Presentation</vt:lpstr>
      <vt:lpstr>1. Introduction</vt:lpstr>
      <vt:lpstr>2. Competition Philosophy</vt:lpstr>
      <vt:lpstr>3. Organizational Structure</vt:lpstr>
      <vt:lpstr>4. Main Milestones</vt:lpstr>
      <vt:lpstr>5. Required Deliverables</vt:lpstr>
      <vt:lpstr>6. Submission Rules</vt:lpstr>
      <vt:lpstr>7. Tasks Overview</vt:lpstr>
      <vt:lpstr>8. Science Task (Detailed)</vt:lpstr>
      <vt:lpstr>9. Navigation Task (Detailed)</vt:lpstr>
      <vt:lpstr>10. Maintenance Task</vt:lpstr>
      <vt:lpstr>11. Probing Task</vt:lpstr>
      <vt:lpstr>12. Presentation Task</vt:lpstr>
      <vt:lpstr>13. Technical Requirements</vt:lpstr>
      <vt:lpstr>14. Communication Regulations</vt:lpstr>
      <vt:lpstr>15. Venue &amp; Field Conditions</vt:lpstr>
      <vt:lpstr>16. Scoring &amp; Qualification</vt:lpstr>
      <vt:lpstr>17. Awards &amp; Recognition</vt:lpstr>
      <vt:lpstr>18. Final Notes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Antony Ghayes</dc:creator>
  <cp:keywords/>
  <dc:description>generated using python-pptx</dc:description>
  <cp:lastModifiedBy>Antoni ghaes</cp:lastModifiedBy>
  <cp:revision>66</cp:revision>
  <dcterms:created xsi:type="dcterms:W3CDTF">2013-01-27T09:14:16Z</dcterms:created>
  <dcterms:modified xsi:type="dcterms:W3CDTF">2025-11-14T13:09:25Z</dcterms:modified>
  <cp:category/>
</cp:coreProperties>
</file>